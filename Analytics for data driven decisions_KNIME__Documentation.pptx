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35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ESPORTS PRIZE MONEY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Story — KNIME Data App Documentation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611880"/>
            <a:ext cx="1280160" cy="45720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931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WIW64030 Analytics for Data Driven Decisions— KNIME Data App Submission</a:t>
            </a:r>
          </a:p>
          <a:p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Prof. C. Laroque 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Ashwin Gopi (Matriculation No: 62192)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 eSports Earnings — 1,000 players · 928 teams · 10 games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Prize money is concentrated —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evenly spread.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in a handful of games, a handful of countries, and a long tail of teams that convert tournament activity into cash at wildly different rates.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657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4251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Landscape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concentrates across games, genres, and regions.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342900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3657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0" y="4251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Spotlight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47548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earns it, and how skewed individual earnings really are.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3429000"/>
            <a:ext cx="3474720" cy="2651760"/>
          </a:xfrm>
          <a:prstGeom prst="roundRect">
            <a:avLst>
              <a:gd name="adj" fmla="val 2759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3657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21040" y="42519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Efficiency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47548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teams convert tournaments into prize money most efficiently.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KNIME Data App — eSports Prize Money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files, one relational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29260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83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highest_earning_players.csv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Handle, country code, total USD prize, game, genre.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0574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3200400"/>
            <a:ext cx="29260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3383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highest_earning_teams.csv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name, total USD prize, tournament count, game, genre.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173736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0574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32104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ROWS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3200400"/>
            <a:ext cx="2926080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383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country-and-continent-codes-list.csv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40690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country codes mapped to continent — used to enrich players geographically.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KNIME Data App — eSports Prize Money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and joining, done once, feeding all 3 views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6459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country codes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201168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Manipulation → uppercase CountryCode so it matches the reference table's casing.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0" y="16459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 the reference table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01168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codes (RU, TR, GE, AZ, AM, CY, KZ, UM) appear twice — tagged to two continents. Removed before joining to avoid row fan-out.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1546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players to geography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52044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 (left outer) attaches Continent_Name and Country_Name to every player row.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2004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0" y="31546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efficiency metric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352044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Formula: PrizePerTournament = TotalUSDPrize / TotalTournaments, for teams.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46634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within game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50292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node, partitioned by Game, on TotalUSDPrize — run for both players and teams, powering "top N per game" views without hardcoding.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4709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0" y="46634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for the macro view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502920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per Game/Genre/Continent → prize totals and counts feeding View 1.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KNIME Data App — eSports Prize Money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Catching a silent join bug before it skews the numbers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file tags 8 transcontinental countries (Russia, Turkey, Georgia, Azerbaijan, Armenia, Cyprus, Kazakhstan) to two continents each. A naive join duplicates every player from those countries.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DEDE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97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DEDUP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from RU/TR/GE/AZ/AM/CY/KZ appear twice in the joined table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and continent totals for those nations are inflated 2x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chart grouped by Continent or Country silently misreports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4231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AF6EF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697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DEDUP (APPLIED)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3108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 Filter on the reference table, keyed on country code, keep-first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38404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player joins to exactly one continent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4572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inside the "Data Prep" component, before any downstream aggregation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KNIME Data App — eSports Prize Money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Landscape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the money is” — setting the macro picture before drilling 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766560" cy="4206240"/>
          </a:xfrm>
          <a:prstGeom prst="rect">
            <a:avLst/>
          </a:prstGeom>
          <a:solidFill>
            <a:srgbClr val="F7F8FC"/>
          </a:solidFill>
          <a:ln w="19050">
            <a:solidFill>
              <a:srgbClr val="B7C1D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680960" y="17830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0" y="2103120"/>
            <a:ext cx="4297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 chart: total prize pool by Game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chart: prize pool share by Genre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Map: total prize by Continents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Area chart : player vs. team prize pool per game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80960" y="4206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0" y="452628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(value filter)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 (value filter)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KNIME Data App — eSports Prize Money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14" name="Picture 13" descr="1785848369135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04" y="1859681"/>
            <a:ext cx="6641432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Spotlight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“Who’s actually winning” — individual earnings and how skewed they 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766560" cy="4206240"/>
          </a:xfrm>
          <a:prstGeom prst="rect">
            <a:avLst/>
          </a:prstGeom>
          <a:solidFill>
            <a:srgbClr val="F7F8FC"/>
          </a:solidFill>
          <a:ln w="19050">
            <a:solidFill>
              <a:srgbClr val="B7C1D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680960" y="17830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0" y="2103120"/>
            <a:ext cx="4297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average player earnings by top 10 countries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in-game rank vs. earnings, colored by genre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FontTx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plot: prize distribution by genre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top 20 players by total prize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80960" y="4206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0" y="452628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(value filter)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 (value filter)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KNIME Data App — eSports Prize Money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14" name="Picture 13" descr="178584841308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28800"/>
            <a:ext cx="6649453" cy="40690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Efficiency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“Grinding vs. winning” — which teams convert tournaments into cash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766560" cy="4206240"/>
          </a:xfrm>
          <a:prstGeom prst="rect">
            <a:avLst/>
          </a:prstGeom>
          <a:solidFill>
            <a:srgbClr val="F7F8FC"/>
          </a:solidFill>
          <a:ln w="19050">
            <a:solidFill>
              <a:srgbClr val="B7C1DA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680960" y="17830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680960" y="2103120"/>
            <a:ext cx="4297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top 15 teams by total prize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tournaments played vs. total prize, by game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chart: top 10 teams by prize-per-tournament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table linked to scatter selection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680960" y="4206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0" y="452628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(value filter)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tournaments (slider)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KNIME Data App — eSports Prize Money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14" name="Picture 13" descr="178584845676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28800"/>
            <a:ext cx="6633411" cy="4069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app meets the evaluation criteria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964475"/>
              </p:ext>
            </p:extLst>
          </p:nvPr>
        </p:nvGraphicFramePr>
        <p:xfrm>
          <a:off x="502920" y="1280160"/>
          <a:ext cx="11064240" cy="52120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Rubric item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it's addressed</a:t>
                      </a:r>
                      <a:endParaRPr lang="en-US" sz="1300" dirty="0"/>
                    </a:p>
                  </a:txBody>
                  <a:tcPr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Meeting requirements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3 views × 4 visualizations </a:t>
                      </a:r>
                      <a:r>
                        <a:rPr lang="en-US" sz="1200">
                          <a:solidFill>
                            <a:srgbClr val="1E2761"/>
                          </a:solidFill>
                        </a:rPr>
                        <a:t>× 2 filters </a:t>
                      </a: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each, within the 2–5 / 1–3 ranges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Independence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Country-code casing and duplicate-continent-row issues identified and resolved without external help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Usability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Consistent filters, cross-page navigation, View 3 drill-down, safe empty-filter fallback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Data transformation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Normalization, dedup, geo-join, derived PrizePerTournament and per-game rank — isolated in a labeled Data Prep component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Visualization clarity &amp; relevance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</a:rPr>
                        <a:t>Every chart maps to one line of the concentration narrative, not a chart per column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KNIME Data App — eSports Prize Money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32004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1280160" cy="45720"/>
          </a:xfrm>
          <a:prstGeom prst="rect">
            <a:avLst/>
          </a:prstGeom>
          <a:solidFill>
            <a:srgbClr val="F9A82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434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export (.knar) and this documentation deck submitted together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881</Words>
  <Application>Microsoft Office PowerPoint</Application>
  <PresentationFormat>Widescreen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Ashwin Gopi</cp:lastModifiedBy>
  <cp:revision>8</cp:revision>
  <dcterms:created xsi:type="dcterms:W3CDTF">2026-07-25T13:31:58Z</dcterms:created>
  <dcterms:modified xsi:type="dcterms:W3CDTF">2026-08-12T10:31:36Z</dcterms:modified>
</cp:coreProperties>
</file>